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
      <p:font typeface="Playfair Displ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font" Target="fonts/Roboto-bold.fntdata"/><Relationship Id="rId12" Type="http://schemas.openxmlformats.org/officeDocument/2006/relationships/font" Target="fonts/Roboto-regular.fntdata"/><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PlayfairDisplay-bold.fntdata"/><Relationship Id="rId16" Type="http://schemas.openxmlformats.org/officeDocument/2006/relationships/font" Target="fonts/PlayfairDisplay-regular.fntdata"/><Relationship Id="rId5" Type="http://schemas.openxmlformats.org/officeDocument/2006/relationships/notesMaster" Target="notesMasters/notesMaster1.xml"/><Relationship Id="rId19" Type="http://schemas.openxmlformats.org/officeDocument/2006/relationships/font" Target="fonts/PlayfairDisplay-boldItalic.fntdata"/><Relationship Id="rId6" Type="http://schemas.openxmlformats.org/officeDocument/2006/relationships/slide" Target="slides/slide1.xml"/><Relationship Id="rId18" Type="http://schemas.openxmlformats.org/officeDocument/2006/relationships/font" Target="fonts/PlayfairDispl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62b5ebf71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62b5ebf71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62b5ebf71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62b5ebf71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62b5ebf71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62b5ebf71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62b5ebf716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62b5ebf716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2b5ebf716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62b5ebf716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2b5ebf716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2b5ebf716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2985125" y="1223050"/>
            <a:ext cx="3131100" cy="179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sz="2722"/>
              <a:t>Podemos</a:t>
            </a:r>
            <a:r>
              <a:rPr lang="es" sz="2722"/>
              <a:t> predecir posibles antivirales activos contra el dengue?</a:t>
            </a:r>
            <a:endParaRPr sz="3500"/>
          </a:p>
        </p:txBody>
      </p:sp>
      <p:sp>
        <p:nvSpPr>
          <p:cNvPr id="60" name="Google Shape;60;p13"/>
          <p:cNvSpPr txBox="1"/>
          <p:nvPr>
            <p:ph idx="1" type="subTitle"/>
          </p:nvPr>
        </p:nvSpPr>
        <p:spPr>
          <a:xfrm>
            <a:off x="3185550" y="3230250"/>
            <a:ext cx="2772900" cy="738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sz="2100"/>
              <a:t>Grupo 13: Agustina Sosa y Andrés Lax</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Introducción </a:t>
            </a:r>
            <a:endParaRPr/>
          </a:p>
          <a:p>
            <a:pPr indent="0" lvl="0" marL="0" rtl="0" algn="l">
              <a:spcBef>
                <a:spcPts val="0"/>
              </a:spcBef>
              <a:spcAft>
                <a:spcPts val="0"/>
              </a:spcAft>
              <a:buNone/>
            </a:pPr>
            <a:r>
              <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El dengue es una enfermedad que se transmite a partir de la picadura del mosquito Aedes Aegypti, provoca dolor de cabeza, dolores articulares y musculares, </a:t>
            </a:r>
            <a:r>
              <a:rPr lang="es"/>
              <a:t>náuseas</a:t>
            </a:r>
            <a:r>
              <a:rPr lang="es"/>
              <a:t> y </a:t>
            </a:r>
            <a:r>
              <a:rPr lang="es"/>
              <a:t>vómitos</a:t>
            </a:r>
            <a:r>
              <a:rPr lang="es"/>
              <a:t> y puede producir sangrado y la muerte de no ser tratado correctamente. </a:t>
            </a:r>
            <a:endParaRPr/>
          </a:p>
          <a:p>
            <a:pPr indent="0" lvl="0" marL="0" rtl="0" algn="just">
              <a:spcBef>
                <a:spcPts val="1200"/>
              </a:spcBef>
              <a:spcAft>
                <a:spcPts val="0"/>
              </a:spcAft>
              <a:buNone/>
            </a:pPr>
            <a:r>
              <a:rPr lang="es"/>
              <a:t>Es una enfermedad </a:t>
            </a:r>
            <a:r>
              <a:rPr lang="es"/>
              <a:t>endémica</a:t>
            </a:r>
            <a:r>
              <a:rPr lang="es"/>
              <a:t> en distintas partes del mundo incluida Argentina. Durante el 2025 se registraron 75.741 posibles casos, de los cuales 16.969 casos fueron confirmados lo que representa 36 casos cada 100.000 personas hasta el 21 de junio de 2025.</a:t>
            </a:r>
            <a:endParaRPr/>
          </a:p>
          <a:p>
            <a:pPr indent="0" lvl="0" marL="0" rtl="0" algn="just">
              <a:spcBef>
                <a:spcPts val="1200"/>
              </a:spcBef>
              <a:spcAft>
                <a:spcPts val="1200"/>
              </a:spcAft>
              <a:buNone/>
            </a:pPr>
            <a:r>
              <a:rPr lang="es"/>
              <a:t>A </a:t>
            </a:r>
            <a:r>
              <a:rPr lang="es"/>
              <a:t>día</a:t>
            </a:r>
            <a:r>
              <a:rPr lang="es"/>
              <a:t> de hoy no existe un antiviral aprobado que pueda combatir la </a:t>
            </a:r>
            <a:r>
              <a:rPr lang="es"/>
              <a:t>infección del dengue.</a:t>
            </a:r>
            <a:r>
              <a:rPr lang="es"/>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3100"/>
              <a:t>Introducción</a:t>
            </a:r>
            <a:endParaRPr sz="3100"/>
          </a:p>
          <a:p>
            <a:pPr indent="0" lvl="0" marL="0" rtl="0" algn="l">
              <a:spcBef>
                <a:spcPts val="0"/>
              </a:spcBef>
              <a:spcAft>
                <a:spcPts val="0"/>
              </a:spcAft>
              <a:buNone/>
            </a:pPr>
            <a:r>
              <a:t/>
            </a:r>
            <a:endParaRPr sz="1300"/>
          </a:p>
          <a:p>
            <a:pPr indent="0" lvl="0" marL="0" rtl="0" algn="l">
              <a:lnSpc>
                <a:spcPct val="115000"/>
              </a:lnSpc>
              <a:spcBef>
                <a:spcPts val="0"/>
              </a:spcBef>
              <a:spcAft>
                <a:spcPts val="0"/>
              </a:spcAft>
              <a:buNone/>
            </a:pPr>
            <a:r>
              <a:t/>
            </a:r>
            <a:endParaRPr sz="1400">
              <a:latin typeface="Roboto"/>
              <a:ea typeface="Roboto"/>
              <a:cs typeface="Roboto"/>
              <a:sym typeface="Roboto"/>
            </a:endParaRPr>
          </a:p>
          <a:p>
            <a:pPr indent="0" lvl="0" marL="0" rtl="0" algn="l">
              <a:spcBef>
                <a:spcPts val="1200"/>
              </a:spcBef>
              <a:spcAft>
                <a:spcPts val="0"/>
              </a:spcAft>
              <a:buNone/>
            </a:pPr>
            <a:r>
              <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Utilizaremos los datos del bioensayo AID540333 de PubChem que evalúa la actividad antiviral contra el virus del dengue de distintas moléculas para hacer un modelo de machine learning y luego testearlo con una base de datos de moléculas aprobadas por la FDA, para determinar cuáles podrían ser posibles antivirales.</a:t>
            </a:r>
            <a:endParaRPr/>
          </a:p>
          <a:p>
            <a:pPr indent="0" lvl="0" marL="0" rtl="0" algn="l">
              <a:spcBef>
                <a:spcPts val="1200"/>
              </a:spcBef>
              <a:spcAft>
                <a:spcPts val="0"/>
              </a:spcAft>
              <a:buNone/>
            </a:pPr>
            <a:r>
              <a:rPr lang="es"/>
              <a:t>AID540333 contiene:</a:t>
            </a:r>
            <a:endParaRPr/>
          </a:p>
          <a:p>
            <a:pPr indent="-342900" lvl="0" marL="457200" rtl="0" algn="l">
              <a:spcBef>
                <a:spcPts val="1200"/>
              </a:spcBef>
              <a:spcAft>
                <a:spcPts val="0"/>
              </a:spcAft>
              <a:buSzPts val="1800"/>
              <a:buChar char="●"/>
            </a:pPr>
            <a:r>
              <a:rPr lang="es"/>
              <a:t>10.240 sustancia </a:t>
            </a:r>
            <a:r>
              <a:rPr lang="es"/>
              <a:t>probadas</a:t>
            </a:r>
            <a:endParaRPr/>
          </a:p>
          <a:p>
            <a:pPr indent="-342900" lvl="0" marL="457200" rtl="0" algn="l">
              <a:spcBef>
                <a:spcPts val="0"/>
              </a:spcBef>
              <a:spcAft>
                <a:spcPts val="0"/>
              </a:spcAft>
              <a:buSzPts val="1800"/>
              <a:buChar char="●"/>
            </a:pPr>
            <a:r>
              <a:rPr lang="es"/>
              <a:t>318 sustancias activas</a:t>
            </a:r>
            <a:endParaRPr/>
          </a:p>
          <a:p>
            <a:pPr indent="-342900" lvl="0" marL="457200" rtl="0" algn="l">
              <a:spcBef>
                <a:spcPts val="0"/>
              </a:spcBef>
              <a:spcAft>
                <a:spcPts val="0"/>
              </a:spcAft>
              <a:buSzPts val="1800"/>
              <a:buChar char="●"/>
            </a:pPr>
            <a:r>
              <a:rPr lang="es"/>
              <a:t>9.922 sustancias inactivas</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97750" y="156650"/>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latin typeface="Playfair Display"/>
                <a:ea typeface="Playfair Display"/>
                <a:cs typeface="Playfair Display"/>
                <a:sym typeface="Playfair Display"/>
              </a:rPr>
              <a:t>Metodología</a:t>
            </a:r>
            <a:endParaRPr>
              <a:latin typeface="Playfair Display"/>
              <a:ea typeface="Playfair Display"/>
              <a:cs typeface="Playfair Display"/>
              <a:sym typeface="Playfair Display"/>
            </a:endParaRPr>
          </a:p>
        </p:txBody>
      </p:sp>
      <p:sp>
        <p:nvSpPr>
          <p:cNvPr id="78" name="Google Shape;78;p16"/>
          <p:cNvSpPr txBox="1"/>
          <p:nvPr/>
        </p:nvSpPr>
        <p:spPr>
          <a:xfrm>
            <a:off x="397750" y="1554650"/>
            <a:ext cx="8178300" cy="2382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lt1"/>
              </a:buClr>
              <a:buSzPts val="1400"/>
              <a:buFont typeface="Lato"/>
              <a:buChar char="●"/>
            </a:pPr>
            <a:r>
              <a:rPr lang="es">
                <a:solidFill>
                  <a:schemeClr val="lt1"/>
                </a:solidFill>
                <a:latin typeface="Lato"/>
                <a:ea typeface="Lato"/>
                <a:cs typeface="Lato"/>
                <a:sym typeface="Lato"/>
              </a:rPr>
              <a:t>Búsqueda de información sobre la problemática que queremos investigar.</a:t>
            </a:r>
            <a:endParaRPr>
              <a:solidFill>
                <a:schemeClr val="lt1"/>
              </a:solidFill>
              <a:latin typeface="Lato"/>
              <a:ea typeface="Lato"/>
              <a:cs typeface="Lato"/>
              <a:sym typeface="Lato"/>
            </a:endParaRPr>
          </a:p>
          <a:p>
            <a:pPr indent="-317500" lvl="0" marL="457200" rtl="0" algn="l">
              <a:lnSpc>
                <a:spcPct val="115000"/>
              </a:lnSpc>
              <a:spcBef>
                <a:spcPts val="0"/>
              </a:spcBef>
              <a:spcAft>
                <a:spcPts val="0"/>
              </a:spcAft>
              <a:buClr>
                <a:schemeClr val="lt1"/>
              </a:buClr>
              <a:buSzPts val="1400"/>
              <a:buFont typeface="Lato"/>
              <a:buChar char="●"/>
            </a:pPr>
            <a:r>
              <a:rPr lang="es">
                <a:solidFill>
                  <a:schemeClr val="lt1"/>
                </a:solidFill>
                <a:latin typeface="Lato"/>
                <a:ea typeface="Lato"/>
                <a:cs typeface="Lato"/>
                <a:sym typeface="Lato"/>
              </a:rPr>
              <a:t>Búsqueda de un dataset asociado a la misma.</a:t>
            </a:r>
            <a:endParaRPr>
              <a:solidFill>
                <a:schemeClr val="lt1"/>
              </a:solidFill>
              <a:latin typeface="Lato"/>
              <a:ea typeface="Lato"/>
              <a:cs typeface="Lato"/>
              <a:sym typeface="Lato"/>
            </a:endParaRPr>
          </a:p>
          <a:p>
            <a:pPr indent="-317500" lvl="0" marL="457200" rtl="0" algn="l">
              <a:lnSpc>
                <a:spcPct val="115000"/>
              </a:lnSpc>
              <a:spcBef>
                <a:spcPts val="0"/>
              </a:spcBef>
              <a:spcAft>
                <a:spcPts val="0"/>
              </a:spcAft>
              <a:buClr>
                <a:schemeClr val="lt1"/>
              </a:buClr>
              <a:buSzPts val="1400"/>
              <a:buFont typeface="Lato"/>
              <a:buChar char="●"/>
            </a:pPr>
            <a:r>
              <a:rPr lang="es">
                <a:solidFill>
                  <a:schemeClr val="lt1"/>
                </a:solidFill>
                <a:latin typeface="Lato"/>
                <a:ea typeface="Lato"/>
                <a:cs typeface="Lato"/>
                <a:sym typeface="Lato"/>
              </a:rPr>
              <a:t>Limpieza de datos.</a:t>
            </a:r>
            <a:endParaRPr>
              <a:solidFill>
                <a:schemeClr val="lt1"/>
              </a:solidFill>
              <a:latin typeface="Lato"/>
              <a:ea typeface="Lato"/>
              <a:cs typeface="Lato"/>
              <a:sym typeface="Lato"/>
            </a:endParaRPr>
          </a:p>
          <a:p>
            <a:pPr indent="-317500" lvl="1" marL="914400" rtl="0" algn="l">
              <a:lnSpc>
                <a:spcPct val="115000"/>
              </a:lnSpc>
              <a:spcBef>
                <a:spcPts val="0"/>
              </a:spcBef>
              <a:spcAft>
                <a:spcPts val="0"/>
              </a:spcAft>
              <a:buClr>
                <a:schemeClr val="lt1"/>
              </a:buClr>
              <a:buSzPts val="1400"/>
              <a:buFont typeface="Lato"/>
              <a:buChar char="○"/>
            </a:pPr>
            <a:r>
              <a:rPr lang="es">
                <a:solidFill>
                  <a:schemeClr val="lt1"/>
                </a:solidFill>
                <a:latin typeface="Lato"/>
                <a:ea typeface="Lato"/>
                <a:cs typeface="Lato"/>
                <a:sym typeface="Lato"/>
              </a:rPr>
              <a:t>Eliminamos columnas vacías e innecesarias para el análisis.</a:t>
            </a:r>
            <a:endParaRPr>
              <a:solidFill>
                <a:schemeClr val="lt1"/>
              </a:solidFill>
              <a:latin typeface="Lato"/>
              <a:ea typeface="Lato"/>
              <a:cs typeface="Lato"/>
              <a:sym typeface="Lato"/>
            </a:endParaRPr>
          </a:p>
          <a:p>
            <a:pPr indent="-317500" lvl="1" marL="914400" rtl="0" algn="l">
              <a:lnSpc>
                <a:spcPct val="115000"/>
              </a:lnSpc>
              <a:spcBef>
                <a:spcPts val="0"/>
              </a:spcBef>
              <a:spcAft>
                <a:spcPts val="0"/>
              </a:spcAft>
              <a:buClr>
                <a:schemeClr val="lt1"/>
              </a:buClr>
              <a:buSzPts val="1400"/>
              <a:buFont typeface="Lato"/>
              <a:buChar char="○"/>
            </a:pPr>
            <a:r>
              <a:rPr lang="es">
                <a:solidFill>
                  <a:schemeClr val="lt1"/>
                </a:solidFill>
                <a:latin typeface="Lato"/>
                <a:ea typeface="Lato"/>
                <a:cs typeface="Lato"/>
                <a:sym typeface="Lato"/>
              </a:rPr>
              <a:t>Eliminamos duplicados.</a:t>
            </a:r>
            <a:endParaRPr>
              <a:solidFill>
                <a:schemeClr val="lt1"/>
              </a:solidFill>
              <a:latin typeface="Lato"/>
              <a:ea typeface="Lato"/>
              <a:cs typeface="Lato"/>
              <a:sym typeface="Lato"/>
            </a:endParaRPr>
          </a:p>
          <a:p>
            <a:pPr indent="-317500" lvl="0" marL="457200" rtl="0" algn="l">
              <a:lnSpc>
                <a:spcPct val="115000"/>
              </a:lnSpc>
              <a:spcBef>
                <a:spcPts val="0"/>
              </a:spcBef>
              <a:spcAft>
                <a:spcPts val="0"/>
              </a:spcAft>
              <a:buClr>
                <a:schemeClr val="lt1"/>
              </a:buClr>
              <a:buSzPts val="1400"/>
              <a:buFont typeface="Lato"/>
              <a:buChar char="●"/>
            </a:pPr>
            <a:r>
              <a:rPr lang="es">
                <a:solidFill>
                  <a:schemeClr val="lt1"/>
                </a:solidFill>
                <a:latin typeface="Lato"/>
                <a:ea typeface="Lato"/>
                <a:cs typeface="Lato"/>
                <a:sym typeface="Lato"/>
              </a:rPr>
              <a:t>Análisis exploratorio de los datos. </a:t>
            </a:r>
            <a:endParaRPr>
              <a:solidFill>
                <a:schemeClr val="lt1"/>
              </a:solidFill>
              <a:latin typeface="Lato"/>
              <a:ea typeface="Lato"/>
              <a:cs typeface="Lato"/>
              <a:sym typeface="Lato"/>
            </a:endParaRPr>
          </a:p>
          <a:p>
            <a:pPr indent="-317500" lvl="1" marL="914400" rtl="0" algn="l">
              <a:lnSpc>
                <a:spcPct val="115000"/>
              </a:lnSpc>
              <a:spcBef>
                <a:spcPts val="0"/>
              </a:spcBef>
              <a:spcAft>
                <a:spcPts val="0"/>
              </a:spcAft>
              <a:buClr>
                <a:schemeClr val="lt1"/>
              </a:buClr>
              <a:buSzPts val="1400"/>
              <a:buFont typeface="Lato"/>
              <a:buChar char="○"/>
            </a:pPr>
            <a:r>
              <a:rPr lang="es">
                <a:solidFill>
                  <a:schemeClr val="lt1"/>
                </a:solidFill>
                <a:latin typeface="Lato"/>
                <a:ea typeface="Lato"/>
                <a:cs typeface="Lato"/>
                <a:sym typeface="Lato"/>
              </a:rPr>
              <a:t>Visualización de las distribuciones.</a:t>
            </a:r>
            <a:endParaRPr>
              <a:solidFill>
                <a:schemeClr val="lt1"/>
              </a:solidFill>
              <a:latin typeface="Lato"/>
              <a:ea typeface="Lato"/>
              <a:cs typeface="Lato"/>
              <a:sym typeface="Lato"/>
            </a:endParaRPr>
          </a:p>
          <a:p>
            <a:pPr indent="-317500" lvl="1" marL="914400" rtl="0" algn="l">
              <a:lnSpc>
                <a:spcPct val="115000"/>
              </a:lnSpc>
              <a:spcBef>
                <a:spcPts val="0"/>
              </a:spcBef>
              <a:spcAft>
                <a:spcPts val="0"/>
              </a:spcAft>
              <a:buClr>
                <a:schemeClr val="lt1"/>
              </a:buClr>
              <a:buSzPts val="1400"/>
              <a:buFont typeface="Lato"/>
              <a:buChar char="○"/>
            </a:pPr>
            <a:r>
              <a:rPr lang="es">
                <a:solidFill>
                  <a:schemeClr val="lt1"/>
                </a:solidFill>
                <a:latin typeface="Lato"/>
                <a:ea typeface="Lato"/>
                <a:cs typeface="Lato"/>
                <a:sym typeface="Lato"/>
              </a:rPr>
              <a:t>Cálculo de propiedades </a:t>
            </a:r>
            <a:r>
              <a:rPr lang="es">
                <a:solidFill>
                  <a:schemeClr val="lt1"/>
                </a:solidFill>
                <a:latin typeface="Lato"/>
                <a:ea typeface="Lato"/>
                <a:cs typeface="Lato"/>
                <a:sym typeface="Lato"/>
              </a:rPr>
              <a:t>fisicoquímicas</a:t>
            </a:r>
            <a:endParaRPr>
              <a:solidFill>
                <a:schemeClr val="lt1"/>
              </a:solidFill>
              <a:latin typeface="Lato"/>
              <a:ea typeface="Lato"/>
              <a:cs typeface="Lato"/>
              <a:sym typeface="Lato"/>
            </a:endParaRPr>
          </a:p>
          <a:p>
            <a:pPr indent="-317500" lvl="0" marL="457200" rtl="0" algn="l">
              <a:lnSpc>
                <a:spcPct val="115000"/>
              </a:lnSpc>
              <a:spcBef>
                <a:spcPts val="0"/>
              </a:spcBef>
              <a:spcAft>
                <a:spcPts val="0"/>
              </a:spcAft>
              <a:buClr>
                <a:schemeClr val="lt1"/>
              </a:buClr>
              <a:buSzPts val="1400"/>
              <a:buFont typeface="Lato"/>
              <a:buChar char="●"/>
            </a:pPr>
            <a:r>
              <a:rPr lang="es">
                <a:solidFill>
                  <a:schemeClr val="lt1"/>
                </a:solidFill>
                <a:latin typeface="Lato"/>
                <a:ea typeface="Lato"/>
                <a:cs typeface="Lato"/>
                <a:sym typeface="Lato"/>
              </a:rPr>
              <a:t>Selección de características y modelado. </a:t>
            </a:r>
            <a:endParaRPr>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Conclusiones</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La </a:t>
            </a:r>
            <a:r>
              <a:rPr lang="es"/>
              <a:t>conclusión</a:t>
            </a:r>
            <a:r>
              <a:rPr lang="es"/>
              <a:t> final de este proyecto es que no se pudo diseñar el modelo de ML ya que el set de datos de PubChem cuenta con demasiadas sustancias inactivas, lo que genera que el programa aprenda muy bien a reconocer las sustancias inactivas haciendo que reconozca todas las sustancias probadas de la FDA como inactivas.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